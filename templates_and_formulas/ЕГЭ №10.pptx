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88942" autoAdjust="0"/>
  </p:normalViewPr>
  <p:slideViewPr>
    <p:cSldViewPr snapToGrid="0">
      <p:cViewPr>
        <p:scale>
          <a:sx n="75" d="100"/>
          <a:sy n="75" d="100"/>
        </p:scale>
        <p:origin x="9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2B309-E7CA-4B2D-A012-3B20B68BC722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A39B9-B4A3-4B4E-B12D-5DCC3846B5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94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CA39B9-B4A3-4B4E-B12D-5DCC3846B57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807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Ответ 13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CA39B9-B4A3-4B4E-B12D-5DCC3846B57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47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3358F0-159B-504A-B9FD-FC998DAFB9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xmlns="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5" y="6030407"/>
            <a:ext cx="2743200" cy="365126"/>
          </a:xfrm>
          <a:prstGeom prst="rect">
            <a:avLst/>
          </a:prstGeom>
        </p:spPr>
        <p:txBody>
          <a:bodyPr vert="horz" lIns="88064" tIns="44032" rIns="88064" bIns="44032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6B53D56E-ED62-4278-8708-0FD3EEE6D15E}" type="datetime1">
              <a:rPr lang="ru-RU" smtClean="0"/>
              <a:t>13.10.2025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xmlns="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88064" tIns="44032" rIns="88064" bIns="44032" rtlCol="0" anchor="t">
            <a:normAutofit/>
          </a:bodyPr>
          <a:lstStyle>
            <a:lvl1pPr>
              <a:defRPr sz="5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6"/>
            <a:ext cx="4140200" cy="365126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495358" marR="0" lvl="0" indent="-495358" algn="l" defTabSz="880636" rtl="0" eaLnBrk="1" fontAlgn="auto" latinLnBrk="0" hangingPunct="1">
              <a:lnSpc>
                <a:spcPct val="90000"/>
              </a:lnSpc>
              <a:spcBef>
                <a:spcPts val="96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0159" marR="0" lvl="0" indent="-220159" algn="l" defTabSz="880636" rtl="0" eaLnBrk="1" fontAlgn="auto" latinLnBrk="0" hangingPunct="1">
              <a:lnSpc>
                <a:spcPct val="90000"/>
              </a:lnSpc>
              <a:spcBef>
                <a:spcPts val="9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1225" y="626122"/>
            <a:ext cx="2646406" cy="7242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C53358F0-159B-504A-B9FD-FC998DAFB9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5727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tusur_presentation\Паттерн 3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170707D-31DF-4198-B226-3E86B72270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800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Заголовок	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962504C-6F4D-40E7-8C48-673B65E271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00" cap="all" baseline="0">
                <a:solidFill>
                  <a:schemeClr val="bg1"/>
                </a:solidFill>
              </a:defRPr>
            </a:lvl1pPr>
            <a:lvl2pPr marL="440318" indent="0" algn="ctr">
              <a:buNone/>
              <a:defRPr sz="1900"/>
            </a:lvl2pPr>
            <a:lvl3pPr marL="880636" indent="0" algn="ctr">
              <a:buNone/>
              <a:defRPr sz="1800"/>
            </a:lvl3pPr>
            <a:lvl4pPr marL="1320954" indent="0" algn="ctr">
              <a:buNone/>
              <a:defRPr sz="1500"/>
            </a:lvl4pPr>
            <a:lvl5pPr marL="1761272" indent="0" algn="ctr">
              <a:buNone/>
              <a:defRPr sz="1500"/>
            </a:lvl5pPr>
            <a:lvl6pPr marL="2201589" indent="0" algn="ctr">
              <a:buNone/>
              <a:defRPr sz="1500"/>
            </a:lvl6pPr>
            <a:lvl7pPr marL="2641907" indent="0" algn="ctr">
              <a:buNone/>
              <a:defRPr sz="1500"/>
            </a:lvl7pPr>
            <a:lvl8pPr marL="3082225" indent="0" algn="ctr">
              <a:buNone/>
              <a:defRPr sz="1500"/>
            </a:lvl8pPr>
            <a:lvl9pPr marL="3522543" indent="0" algn="ctr">
              <a:buNone/>
              <a:defRPr sz="1500"/>
            </a:lvl9pPr>
          </a:lstStyle>
          <a:p>
            <a:r>
              <a:rPr lang="ru-RU" dirty="0" smtClean="0"/>
              <a:t>подзаголовок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1E73-B6A6-4825-A137-066971D5977F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1225" y="626122"/>
            <a:ext cx="2646406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33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9645587" cy="898120"/>
          </a:xfrm>
        </p:spPr>
        <p:txBody>
          <a:bodyPr/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822"/>
            <a:ext cx="10515600" cy="4692468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9FD9-05BF-47F0-8B07-F8B85ACF3D99}" type="datetime1">
              <a:rPr lang="ru-RU" smtClean="0"/>
              <a:t>13.10.2025</a:t>
            </a:fld>
            <a:endParaRPr lang="ru-RU"/>
          </a:p>
        </p:txBody>
      </p:sp>
      <p:sp>
        <p:nvSpPr>
          <p:cNvPr id="13" name="Нижний колонтитул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8807364" y="6432396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05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6C455-253B-4E9D-B7B4-18B5EC563BCC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2526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793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40318" indent="0">
              <a:buNone/>
              <a:defRPr sz="1900" b="1"/>
            </a:lvl2pPr>
            <a:lvl3pPr marL="880636" indent="0">
              <a:buNone/>
              <a:defRPr sz="1800" b="1"/>
            </a:lvl3pPr>
            <a:lvl4pPr marL="1320954" indent="0">
              <a:buNone/>
              <a:defRPr sz="1500" b="1"/>
            </a:lvl4pPr>
            <a:lvl5pPr marL="1761272" indent="0">
              <a:buNone/>
              <a:defRPr sz="1500" b="1"/>
            </a:lvl5pPr>
            <a:lvl6pPr marL="2201589" indent="0">
              <a:buNone/>
              <a:defRPr sz="1500" b="1"/>
            </a:lvl6pPr>
            <a:lvl7pPr marL="2641907" indent="0">
              <a:buNone/>
              <a:defRPr sz="1500" b="1"/>
            </a:lvl7pPr>
            <a:lvl8pPr marL="3082225" indent="0">
              <a:buNone/>
              <a:defRPr sz="1500" b="1"/>
            </a:lvl8pPr>
            <a:lvl9pPr marL="3522543" indent="0">
              <a:buNone/>
              <a:defRPr sz="15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440318" indent="0">
              <a:buNone/>
              <a:defRPr sz="1900" b="1"/>
            </a:lvl2pPr>
            <a:lvl3pPr marL="880636" indent="0">
              <a:buNone/>
              <a:defRPr sz="1800" b="1"/>
            </a:lvl3pPr>
            <a:lvl4pPr marL="1320954" indent="0">
              <a:buNone/>
              <a:defRPr sz="1500" b="1"/>
            </a:lvl4pPr>
            <a:lvl5pPr marL="1761272" indent="0">
              <a:buNone/>
              <a:defRPr sz="1500" b="1"/>
            </a:lvl5pPr>
            <a:lvl6pPr marL="2201589" indent="0">
              <a:buNone/>
              <a:defRPr sz="1500" b="1"/>
            </a:lvl6pPr>
            <a:lvl7pPr marL="2641907" indent="0">
              <a:buNone/>
              <a:defRPr sz="1500" b="1"/>
            </a:lvl7pPr>
            <a:lvl8pPr marL="3082225" indent="0">
              <a:buNone/>
              <a:defRPr sz="1500" b="1"/>
            </a:lvl8pPr>
            <a:lvl9pPr marL="3522543" indent="0">
              <a:buNone/>
              <a:defRPr sz="15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BEDFD-8484-4444-8E4E-43CDB69D23C5}" type="datetime1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151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95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69657-97FF-457A-A833-5E73CC47D854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9201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55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1AF50-0037-4CC5-9811-4E85BB46FF35}" type="datetime1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6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45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4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8" cy="3811587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>
              <a:buNone/>
              <a:defRPr sz="1500"/>
            </a:lvl1pPr>
            <a:lvl2pPr marL="440318" indent="0">
              <a:buNone/>
              <a:defRPr sz="1400"/>
            </a:lvl2pPr>
            <a:lvl3pPr marL="880636" indent="0">
              <a:buNone/>
              <a:defRPr sz="1200"/>
            </a:lvl3pPr>
            <a:lvl4pPr marL="1320954" indent="0">
              <a:buNone/>
              <a:defRPr sz="1000"/>
            </a:lvl4pPr>
            <a:lvl5pPr marL="1761272" indent="0">
              <a:buNone/>
              <a:defRPr sz="1000"/>
            </a:lvl5pPr>
            <a:lvl6pPr marL="2201589" indent="0">
              <a:buNone/>
              <a:defRPr sz="1000"/>
            </a:lvl6pPr>
            <a:lvl7pPr marL="2641907" indent="0">
              <a:buNone/>
              <a:defRPr sz="1000"/>
            </a:lvl7pPr>
            <a:lvl8pPr marL="3082225" indent="0">
              <a:buNone/>
              <a:defRPr sz="1000"/>
            </a:lvl8pPr>
            <a:lvl9pPr marL="352254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4597A-E670-4A7E-AB8C-9A74989EFAAA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1576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27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4685-5264-4F85-9481-D5DE31B4D7D3}" type="datetime1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848726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460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4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>
              <a:buNone/>
              <a:defRPr sz="3100"/>
            </a:lvl1pPr>
            <a:lvl2pPr marL="440318" indent="0">
              <a:buNone/>
              <a:defRPr sz="2700"/>
            </a:lvl2pPr>
            <a:lvl3pPr marL="880636" indent="0">
              <a:buNone/>
              <a:defRPr sz="2300"/>
            </a:lvl3pPr>
            <a:lvl4pPr marL="1320954" indent="0">
              <a:buNone/>
              <a:defRPr sz="1900"/>
            </a:lvl4pPr>
            <a:lvl5pPr marL="1761272" indent="0">
              <a:buNone/>
              <a:defRPr sz="1900"/>
            </a:lvl5pPr>
            <a:lvl6pPr marL="2201589" indent="0">
              <a:buNone/>
              <a:defRPr sz="1900"/>
            </a:lvl6pPr>
            <a:lvl7pPr marL="2641907" indent="0">
              <a:buNone/>
              <a:defRPr sz="1900"/>
            </a:lvl7pPr>
            <a:lvl8pPr marL="3082225" indent="0">
              <a:buNone/>
              <a:defRPr sz="1900"/>
            </a:lvl8pPr>
            <a:lvl9pPr marL="3522543" indent="0">
              <a:buNone/>
              <a:defRPr sz="19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8" cy="3811587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>
            <a:lvl1pPr marL="0" indent="0">
              <a:buNone/>
              <a:defRPr sz="1500"/>
            </a:lvl1pPr>
            <a:lvl2pPr marL="440318" indent="0">
              <a:buNone/>
              <a:defRPr sz="1400"/>
            </a:lvl2pPr>
            <a:lvl3pPr marL="880636" indent="0">
              <a:buNone/>
              <a:defRPr sz="1200"/>
            </a:lvl3pPr>
            <a:lvl4pPr marL="1320954" indent="0">
              <a:buNone/>
              <a:defRPr sz="1000"/>
            </a:lvl4pPr>
            <a:lvl5pPr marL="1761272" indent="0">
              <a:buNone/>
              <a:defRPr sz="1000"/>
            </a:lvl5pPr>
            <a:lvl6pPr marL="2201589" indent="0">
              <a:buNone/>
              <a:defRPr sz="1000"/>
            </a:lvl6pPr>
            <a:lvl7pPr marL="2641907" indent="0">
              <a:buNone/>
              <a:defRPr sz="1000"/>
            </a:lvl7pPr>
            <a:lvl8pPr marL="3082225" indent="0">
              <a:buNone/>
              <a:defRPr sz="1000"/>
            </a:lvl8pPr>
            <a:lvl9pPr marL="352254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40F13-A146-4841-9664-FB3E73E98B8B}" type="datetime1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0626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66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1CA01-38B3-4EA4-870E-8FB87182F428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0151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277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A9984F9-A805-4590-B8AD-A7D839CA5C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83788" y="477681"/>
            <a:ext cx="1190601" cy="33895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BBD84DAF-E152-4CBC-8AFF-9A834338369A}"/>
              </a:ext>
            </a:extLst>
          </p:cNvPr>
          <p:cNvSpPr/>
          <p:nvPr/>
        </p:nvSpPr>
        <p:spPr>
          <a:xfrm>
            <a:off x="10483787" y="6373462"/>
            <a:ext cx="1708286" cy="502044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>
            <a:normAutofit/>
          </a:bodyPr>
          <a:lstStyle>
            <a:lvl1pPr>
              <a:defRPr sz="2800" b="1" cap="all" baseline="0">
                <a:solidFill>
                  <a:srgbClr val="3C388D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7"/>
            <a:ext cx="7734300" cy="5811839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2FEA1-13B6-4995-AC3F-2C8D04AF5FAC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6" y="6432551"/>
            <a:ext cx="2743200" cy="3651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408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3358F0-159B-504A-B9FD-FC998DAFB9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xmlns="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4B2CD2E7-DD1B-4CDC-99C9-B067CEFC55A8}" type="datetime1">
              <a:rPr lang="ru-RU" smtClean="0"/>
              <a:t>13.10.2025</a:t>
            </a:fld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xmlns="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4668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 раздела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92B471-3880-FD75-63A2-5981F81B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582955"/>
            <a:ext cx="10515600" cy="9795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479CA01-1307-5FC4-ABE1-B54CA21A6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xmlns="" id="{D037FEC6-95B8-8576-F657-A9C31364AE7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31850" y="2705894"/>
            <a:ext cx="10515600" cy="723106"/>
          </a:xfrm>
        </p:spPr>
        <p:txBody>
          <a:bodyPr anchor="b"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6276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Заголовок раздела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92B471-3880-FD75-63A2-5981F81B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9240"/>
            <a:ext cx="10515600" cy="9795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3482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раздела">
    <p:bg>
      <p:bgPr>
        <a:blipFill dpi="0" rotWithShape="1">
          <a:blip r:embed="rId2">
            <a:lum/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92B471-3880-FD75-63A2-5981F81B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9240"/>
            <a:ext cx="10515600" cy="9795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250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5F8735D-C7AC-2DD7-5ADC-BF312B86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20E38AB-A55E-8E76-62B0-EF743F62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xmlns="" id="{8A63B94B-3F15-C397-7E94-988B77C70A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10139"/>
            <a:ext cx="5257800" cy="447869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xmlns="" id="{A412643C-D0F0-6D3A-96CF-C4FD854392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10139"/>
            <a:ext cx="5257800" cy="447869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841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раздела">
    <p:bg>
      <p:bgPr>
        <a:blipFill dpi="0" rotWithShape="1">
          <a:blip r:embed="rId2">
            <a:lum/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92B471-3880-FD75-63A2-5981F81B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9240"/>
            <a:ext cx="10515600" cy="9795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4787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5F8735D-C7AC-2DD7-5ADC-BF312B86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20E38AB-A55E-8E76-62B0-EF743F62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xmlns="" id="{8A63B94B-3F15-C397-7E94-988B77C70A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10139"/>
            <a:ext cx="5257800" cy="447869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xmlns="" id="{A412643C-D0F0-6D3A-96CF-C4FD854392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10139"/>
            <a:ext cx="5257800" cy="447869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68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88064" tIns="44032" rIns="88064" bIns="44032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88064" tIns="44032" rIns="88064" bIns="4403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6"/>
          </a:xfrm>
          <a:prstGeom prst="rect">
            <a:avLst/>
          </a:prstGeom>
        </p:spPr>
        <p:txBody>
          <a:bodyPr vert="horz" lIns="88064" tIns="44032" rIns="88064" bIns="4403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8EBF98-336A-422B-8FAF-CB2132D019E4}" type="datetime1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6"/>
          </a:xfrm>
          <a:prstGeom prst="rect">
            <a:avLst/>
          </a:prstGeom>
        </p:spPr>
        <p:txBody>
          <a:bodyPr vert="horz" lIns="88064" tIns="44032" rIns="88064" bIns="4403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6"/>
          </a:xfrm>
          <a:prstGeom prst="rect">
            <a:avLst/>
          </a:prstGeom>
        </p:spPr>
        <p:txBody>
          <a:bodyPr vert="horz" lIns="88064" tIns="44032" rIns="88064" bIns="4403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D6345-28D0-41F1-A846-2D3A2AEC50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20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880636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159" indent="-220159" algn="l" defTabSz="880636" rtl="0" eaLnBrk="1" latinLnBrk="0" hangingPunct="1">
        <a:lnSpc>
          <a:spcPct val="90000"/>
        </a:lnSpc>
        <a:spcBef>
          <a:spcPts val="9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77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00795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541113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981431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21748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2066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02384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42702" indent="-220159" algn="l" defTabSz="88063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0318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80636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0954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1272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1589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907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2225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22543" algn="l" defTabSz="88063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ompege.ru/files/gemU5CBPxb.od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54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окна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В правой части окна найти и нажать кнопку</a:t>
            </a:r>
          </a:p>
          <a:p>
            <a:r>
              <a:rPr lang="ru-RU" dirty="0" smtClean="0"/>
              <a:t>В выпадающем списке выбрать пункт «Навигатор»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47" y="1591945"/>
            <a:ext cx="9987105" cy="260080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33" y="4604424"/>
            <a:ext cx="578098" cy="578098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59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Копирование отдельных глав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648325" lvl="8" indent="0"/>
            <a:r>
              <a:rPr lang="ru-RU" dirty="0" smtClean="0"/>
              <a:t> Щелкнуть ПКМ (правой кнопкой мыши) на имя нужной главы в Навигаторе</a:t>
            </a:r>
          </a:p>
          <a:p>
            <a:pPr marL="5648325" lvl="8" indent="0"/>
            <a:r>
              <a:rPr lang="ru-RU" dirty="0"/>
              <a:t> </a:t>
            </a:r>
            <a:r>
              <a:rPr lang="ru-RU" dirty="0" smtClean="0"/>
              <a:t>Выбрать Копировать</a:t>
            </a:r>
          </a:p>
          <a:p>
            <a:pPr marL="5648325" lvl="8" indent="0"/>
            <a:r>
              <a:rPr lang="ru-RU" dirty="0"/>
              <a:t> </a:t>
            </a:r>
            <a:r>
              <a:rPr lang="ru-RU" dirty="0" smtClean="0"/>
              <a:t>В новом документе </a:t>
            </a:r>
            <a:r>
              <a:rPr lang="en-US" dirty="0" smtClean="0"/>
              <a:t>Ctrl + V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32585"/>
            <a:ext cx="5089610" cy="3345815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16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Использование регулярных выражений в текстовом </a:t>
            </a:r>
            <a:r>
              <a:rPr lang="ru-RU" b="1" dirty="0" smtClean="0"/>
              <a:t>поиске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Регулярные выражения представляют собой специальные шаблоны для поиска и обработки текста, помогающие определять местонахождение в текстах заданной информации.</a:t>
            </a:r>
          </a:p>
          <a:p>
            <a:pPr marL="0" indent="0">
              <a:buNone/>
            </a:pPr>
            <a:r>
              <a:rPr lang="ru-RU" dirty="0" smtClean="0"/>
              <a:t>Поиск с регулярными выражениями отличается от поиска с подстановочными знаками. </a:t>
            </a:r>
            <a:r>
              <a:rPr lang="ru-RU" dirty="0" err="1" smtClean="0"/>
              <a:t>LibreOffice</a:t>
            </a:r>
            <a:r>
              <a:rPr lang="ru-RU" dirty="0" smtClean="0"/>
              <a:t> </a:t>
            </a:r>
            <a:r>
              <a:rPr lang="ru-RU" dirty="0" err="1" smtClean="0"/>
              <a:t>Writer</a:t>
            </a:r>
            <a:r>
              <a:rPr lang="ru-RU" dirty="0" smtClean="0"/>
              <a:t> поддерживает только поиск с регулярными выражениями.</a:t>
            </a:r>
          </a:p>
          <a:p>
            <a:pPr marL="0" indent="0">
              <a:buNone/>
            </a:pPr>
            <a:r>
              <a:rPr lang="ru-RU" dirty="0" smtClean="0"/>
              <a:t>Регулярные выражения можно также использовать при поиске и замене текста в документе. Например, строка поиска «</a:t>
            </a:r>
            <a:r>
              <a:rPr lang="ru-RU" dirty="0" err="1" smtClean="0"/>
              <a:t>с.н</a:t>
            </a:r>
            <a:r>
              <a:rPr lang="ru-RU" dirty="0" smtClean="0"/>
              <a:t>» будет совпадать со строками «сон» и «сын».</a:t>
            </a:r>
          </a:p>
          <a:p>
            <a:r>
              <a:rPr lang="ru-RU" dirty="0" smtClean="0"/>
              <a:t>Выберите Правка - Поиск и замена.</a:t>
            </a:r>
          </a:p>
          <a:p>
            <a:r>
              <a:rPr lang="ru-RU" dirty="0" smtClean="0"/>
              <a:t>Для расширения диалогового окна нажмите Дополнительные параметры.</a:t>
            </a:r>
          </a:p>
          <a:p>
            <a:r>
              <a:rPr lang="ru-RU" dirty="0" smtClean="0"/>
              <a:t>Установите флажок Регулярные выражения.</a:t>
            </a:r>
          </a:p>
          <a:p>
            <a:r>
              <a:rPr lang="ru-RU" dirty="0" smtClean="0"/>
              <a:t>Введите ключевое слово в поле Найти, а также регулярное выражение, которое предполагается использовать в поиске.</a:t>
            </a:r>
          </a:p>
          <a:p>
            <a:r>
              <a:rPr lang="ru-RU" dirty="0" smtClean="0"/>
              <a:t>Щёлкните Найти следующее или Найти все.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57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ДЕМО 2026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C помощью текстового редактора определите, сколько раз встречается сочетание букв «рук» или «Рук» в составе других слов, но не как отдельное слово, в тексте глав XIII, XIV и XV романа И.С. Тургенева «Отцы и дети».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>В ответе укажите только число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hlinkClick r:id="rId3"/>
              </a:rPr>
              <a:t>https://kompege.ru/files/gemU5CBPxb.odt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321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 решения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решения задачи из ДЕМО-2026 можно использовать выражение </a:t>
            </a:r>
            <a:r>
              <a:rPr lang="ru-RU" b="1" dirty="0" smtClean="0"/>
              <a:t>[А-</a:t>
            </a:r>
            <a:r>
              <a:rPr lang="ru-RU" b="1" dirty="0" err="1" smtClean="0"/>
              <a:t>Яа</a:t>
            </a:r>
            <a:r>
              <a:rPr lang="ru-RU" b="1" dirty="0" smtClean="0"/>
              <a:t>-я]*(</a:t>
            </a:r>
            <a:r>
              <a:rPr lang="ru-RU" b="1" dirty="0" err="1" smtClean="0"/>
              <a:t>Р|р</a:t>
            </a:r>
            <a:r>
              <a:rPr lang="ru-RU" b="1" dirty="0" smtClean="0"/>
              <a:t>)</a:t>
            </a:r>
            <a:r>
              <a:rPr lang="ru-RU" b="1" dirty="0" err="1" smtClean="0"/>
              <a:t>ук</a:t>
            </a:r>
            <a:r>
              <a:rPr lang="ru-RU" b="1" dirty="0" smtClean="0"/>
              <a:t>[А-</a:t>
            </a:r>
            <a:r>
              <a:rPr lang="ru-RU" b="1" dirty="0" err="1" smtClean="0"/>
              <a:t>Яа</a:t>
            </a:r>
            <a:r>
              <a:rPr lang="ru-RU" b="1" dirty="0" smtClean="0"/>
              <a:t>-я]*</a:t>
            </a:r>
          </a:p>
          <a:p>
            <a:pPr lvl="1"/>
            <a:r>
              <a:rPr lang="ru-RU" b="1" dirty="0" smtClean="0"/>
              <a:t>[А-</a:t>
            </a:r>
            <a:r>
              <a:rPr lang="ru-RU" b="1" dirty="0" err="1" smtClean="0"/>
              <a:t>Яа</a:t>
            </a:r>
            <a:r>
              <a:rPr lang="ru-RU" b="1" dirty="0" smtClean="0"/>
              <a:t>-я]* - </a:t>
            </a:r>
            <a:r>
              <a:rPr lang="ru-RU" dirty="0" smtClean="0"/>
              <a:t>любое количество букв заглавных или строчных</a:t>
            </a:r>
          </a:p>
          <a:p>
            <a:pPr lvl="1"/>
            <a:r>
              <a:rPr lang="ru-RU" b="1" dirty="0" smtClean="0"/>
              <a:t>(</a:t>
            </a:r>
            <a:r>
              <a:rPr lang="ru-RU" b="1" dirty="0" err="1" smtClean="0"/>
              <a:t>Р|р</a:t>
            </a:r>
            <a:r>
              <a:rPr lang="ru-RU" b="1" dirty="0" smtClean="0"/>
              <a:t>)</a:t>
            </a:r>
            <a:r>
              <a:rPr lang="ru-RU" b="1" dirty="0" err="1" smtClean="0"/>
              <a:t>ук</a:t>
            </a:r>
            <a:r>
              <a:rPr lang="ru-RU" b="1" dirty="0"/>
              <a:t> </a:t>
            </a:r>
            <a:r>
              <a:rPr lang="ru-RU" b="1" dirty="0" smtClean="0"/>
              <a:t>– </a:t>
            </a:r>
            <a:r>
              <a:rPr lang="ru-RU" dirty="0" smtClean="0"/>
              <a:t>Рук или рук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27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kumimoji="0" lang="ru-RU" altLang="ru-RU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Специальные символы (краткая шпаргалка)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Символ	Описание</a:t>
            </a:r>
          </a:p>
          <a:p>
            <a:pPr marL="0" indent="0">
              <a:buNone/>
            </a:pPr>
            <a:r>
              <a:rPr lang="ru-RU" dirty="0" smtClean="0"/>
              <a:t>.		Любой один символ</a:t>
            </a:r>
          </a:p>
          <a:p>
            <a:pPr marL="0" indent="0">
              <a:buNone/>
            </a:pPr>
            <a:r>
              <a:rPr lang="ru-RU" dirty="0" smtClean="0"/>
              <a:t>?		0 или 1 повторение предыдущего</a:t>
            </a:r>
          </a:p>
          <a:p>
            <a:pPr marL="0" indent="0">
              <a:buNone/>
            </a:pPr>
            <a:r>
              <a:rPr lang="ru-RU" dirty="0" smtClean="0"/>
              <a:t>*		0 или более повторений</a:t>
            </a:r>
          </a:p>
          <a:p>
            <a:pPr marL="0" indent="0">
              <a:buNone/>
            </a:pPr>
            <a:r>
              <a:rPr lang="ru-RU" dirty="0" smtClean="0"/>
              <a:t>+		1 или более повторений</a:t>
            </a:r>
          </a:p>
          <a:p>
            <a:pPr marL="0" indent="0">
              <a:buNone/>
            </a:pPr>
            <a:r>
              <a:rPr lang="ru-RU" dirty="0" smtClean="0"/>
              <a:t>[</a:t>
            </a:r>
            <a:r>
              <a:rPr lang="ru-RU" dirty="0" err="1" smtClean="0"/>
              <a:t>abc</a:t>
            </a:r>
            <a:r>
              <a:rPr lang="ru-RU" dirty="0" smtClean="0"/>
              <a:t>]		Любой символ из набора (a, b или c)</a:t>
            </a:r>
          </a:p>
          <a:p>
            <a:pPr marL="0" indent="0">
              <a:buNone/>
            </a:pPr>
            <a:r>
              <a:rPr lang="ru-RU" dirty="0" smtClean="0"/>
              <a:t>[^</a:t>
            </a:r>
            <a:r>
              <a:rPr lang="ru-RU" dirty="0" err="1" smtClean="0"/>
              <a:t>abc</a:t>
            </a:r>
            <a:r>
              <a:rPr lang="ru-RU" dirty="0" smtClean="0"/>
              <a:t>]		Любой символ, кроме a, b, c</a:t>
            </a:r>
          </a:p>
          <a:p>
            <a:pPr marL="0" indent="0">
              <a:buNone/>
            </a:pPr>
            <a:r>
              <a:rPr lang="ru-RU" dirty="0" smtClean="0"/>
              <a:t>[a-z]		Любой символ в диапазоне (латиница)</a:t>
            </a:r>
            <a:endParaRPr lang="ru-RU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63739"/>
            <a:ext cx="65" cy="5846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03136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45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cap="none">
                <a:solidFill>
                  <a:srgbClr val="0F1115"/>
                </a:solidFill>
                <a:latin typeface="quote-cjk-patch"/>
              </a:rPr>
              <a:t>Специальные символы (краткая шпаргалка)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Символ	Описание</a:t>
            </a:r>
          </a:p>
          <a:p>
            <a:pPr marL="0" indent="0">
              <a:buNone/>
            </a:pPr>
            <a:r>
              <a:rPr lang="ru-RU" dirty="0" smtClean="0"/>
              <a:t>^		Начало абзаца</a:t>
            </a:r>
          </a:p>
          <a:p>
            <a:pPr marL="0" indent="0">
              <a:buNone/>
            </a:pPr>
            <a:r>
              <a:rPr lang="ru-RU" dirty="0" smtClean="0"/>
              <a:t>$		Конец абзаца</a:t>
            </a:r>
          </a:p>
          <a:p>
            <a:pPr marL="0" indent="0">
              <a:buNone/>
            </a:pPr>
            <a:r>
              <a:rPr lang="ru-RU" dirty="0" smtClean="0"/>
              <a:t>\n		Перевод строки (в поле "Заменить")</a:t>
            </a:r>
          </a:p>
          <a:p>
            <a:pPr marL="0" indent="0">
              <a:buNone/>
            </a:pPr>
            <a:r>
              <a:rPr lang="ru-RU" dirty="0" smtClean="0"/>
              <a:t>\t		Знак табуляции</a:t>
            </a:r>
          </a:p>
          <a:p>
            <a:pPr marL="0" indent="0">
              <a:buNone/>
            </a:pPr>
            <a:r>
              <a:rPr lang="ru-RU" dirty="0" smtClean="0"/>
              <a:t>{</a:t>
            </a:r>
            <a:r>
              <a:rPr lang="ru-RU" dirty="0" err="1" smtClean="0"/>
              <a:t>n,m</a:t>
            </a:r>
            <a:r>
              <a:rPr lang="ru-RU" dirty="0" smtClean="0"/>
              <a:t>}		Квантификатор (от n до m раз)</a:t>
            </a:r>
          </a:p>
          <a:p>
            <a:pPr marL="0" indent="0">
              <a:buNone/>
            </a:pPr>
            <a:r>
              <a:rPr lang="ru-RU" dirty="0" smtClean="0"/>
              <a:t>$1, $2...	Ссылка на сохраненную группу при замене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D6345-28D0-41F1-A846-2D3A2AEC507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866378"/>
      </p:ext>
    </p:extLst>
  </p:cSld>
  <p:clrMapOvr>
    <a:masterClrMapping/>
  </p:clrMapOvr>
</p:sld>
</file>

<file path=ppt/theme/theme1.xml><?xml version="1.0" encoding="utf-8"?>
<a:theme xmlns:a="http://schemas.openxmlformats.org/drawingml/2006/main" name="тусур">
  <a:themeElements>
    <a:clrScheme name="tusur1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3C388D"/>
      </a:accent1>
      <a:accent2>
        <a:srgbClr val="6F6CA8"/>
      </a:accent2>
      <a:accent3>
        <a:srgbClr val="B3B2CB"/>
      </a:accent3>
      <a:accent4>
        <a:srgbClr val="652580"/>
      </a:accent4>
      <a:accent5>
        <a:srgbClr val="9366A6"/>
      </a:accent5>
      <a:accent6>
        <a:srgbClr val="D1BED9"/>
      </a:accent6>
      <a:hlink>
        <a:srgbClr val="3C388D"/>
      </a:hlink>
      <a:folHlink>
        <a:srgbClr val="652580"/>
      </a:folHlink>
    </a:clrScheme>
    <a:fontScheme name="ТУСУР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усур" id="{FB3235E8-A50C-4360-8A2D-CB895F272DA1}" vid="{A218B3B2-5348-4C7D-923F-E7F0B45734B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тусур</Template>
  <TotalTime>54</TotalTime>
  <Words>235</Words>
  <Application>Microsoft Office PowerPoint</Application>
  <PresentationFormat>Широкоэкранный</PresentationFormat>
  <Paragraphs>58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quote-cjk-patch</vt:lpstr>
      <vt:lpstr>Verdana</vt:lpstr>
      <vt:lpstr>Wingdings</vt:lpstr>
      <vt:lpstr>тусур</vt:lpstr>
      <vt:lpstr>Презентация PowerPoint</vt:lpstr>
      <vt:lpstr>Настройка окна</vt:lpstr>
      <vt:lpstr>Копирование отдельных глав</vt:lpstr>
      <vt:lpstr>Использование регулярных выражений в текстовом поиске</vt:lpstr>
      <vt:lpstr>ДЕМО 2026</vt:lpstr>
      <vt:lpstr>Способ решения</vt:lpstr>
      <vt:lpstr>Специальные символы (краткая шпаргалка)</vt:lpstr>
      <vt:lpstr>Специальные символы (краткая шпаргалка)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2025-10-13T13:57:04Z</dcterms:created>
  <dcterms:modified xsi:type="dcterms:W3CDTF">2025-10-13T14:51:48Z</dcterms:modified>
</cp:coreProperties>
</file>